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E3A8A"/>
                </a:solidFill>
                <a:latin typeface="Arial"/>
              </a:defRPr>
            </a:pPr>
            <a:r>
              <a:t>AI-Driven Credit Default Risk Analyzer</a:t>
            </a:r>
          </a:p>
          <a:p>
            <a:pPr>
              <a:spcBef>
                <a:spcPts val="1400"/>
              </a:spcBef>
              <a:defRPr sz="2000">
                <a:solidFill>
                  <a:srgbClr val="475569"/>
                </a:solidFill>
                <a:latin typeface="Arial"/>
              </a:defRPr>
            </a:pPr>
            <a:r>
              <a:t>Machine Learning Decision Support System for Retail Loan Underwriting</a:t>
            </a:r>
          </a:p>
          <a:p>
            <a:pPr>
              <a:spcBef>
                <a:spcPts val="2800"/>
              </a:spcBef>
              <a:defRPr sz="1500" b="1">
                <a:solidFill>
                  <a:srgbClr val="1E3A8A"/>
                </a:solidFill>
                <a:latin typeface="Arial"/>
              </a:defRPr>
            </a:pPr>
            <a:r>
              <a:t>Course: Machine Learning for Business Applications (MLBA) | MBA – Business Analytics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Repository: https://github.com/Akshit226/streamlit-app-MLBA-02-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1. Business Problem &amp; Asymmetric Cost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Why traditional accuracy fails in banking credit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The Core Challenge: </a:t>
            </a:r>
            <a:r>
              <a:rPr sz="1600">
                <a:solidFill>
                  <a:srgbClr val="0F172A"/>
                </a:solidFill>
                <a:latin typeface="Arial"/>
              </a:rPr>
              <a:t>Retail banks generate interest margin by lending, but borrower delinquency creates severe Non-Performing Assets (NPAs) that destroy bank capital.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False Negative (Critical Error): </a:t>
            </a:r>
            <a:r>
              <a:rPr sz="1600">
                <a:solidFill>
                  <a:srgbClr val="0F172A"/>
                </a:solidFill>
                <a:latin typeface="Arial"/>
              </a:rPr>
              <a:t>Approving an applicant who defaults. The bank loses 100% of the loan principal ($5,000–$10,000 loss) plus recovery costs.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False Positive (Opportunity Cost): </a:t>
            </a:r>
            <a:r>
              <a:rPr sz="1600">
                <a:solidFill>
                  <a:srgbClr val="0F172A"/>
                </a:solidFill>
                <a:latin typeface="Arial"/>
              </a:rPr>
              <a:t>Rejecting a creditworthy applicant. The bank only loses the interest margin (8–10% interest profit).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Strategic Analytics Focus: </a:t>
            </a:r>
            <a:r>
              <a:rPr sz="1600">
                <a:solidFill>
                  <a:srgbClr val="0F172A"/>
                </a:solidFill>
                <a:latin typeface="Arial"/>
              </a:rPr>
              <a:t>Missing a defaulter is 10–15x more expensive than turning down a good borrower. Hence, the model is optimized for Recall on Defaulters rather than raw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2. Dataset &amp; Feature Engineering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Statlog German Credit Data (UCI / OpenML)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Dataset Scale: </a:t>
            </a:r>
            <a:r>
              <a:rPr sz="1600">
                <a:solidFill>
                  <a:srgbClr val="0F172A"/>
                </a:solidFill>
                <a:latin typeface="Arial"/>
              </a:rPr>
              <a:t>1,000 historic credit applicants with 20 original predictor features and a 70% Good / 30% Bad default class split.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Target Variable: </a:t>
            </a:r>
            <a:r>
              <a:rPr sz="1600">
                <a:solidFill>
                  <a:srgbClr val="0F172A"/>
                </a:solidFill>
                <a:latin typeface="Arial"/>
              </a:rPr>
              <a:t>Binary class: Good (0 = Repayer / Low Risk) vs. Bad (1 = Defaulter / High Risk).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Feature Selection: </a:t>
            </a:r>
            <a:r>
              <a:rPr sz="1600">
                <a:solidFill>
                  <a:srgbClr val="0F172A"/>
                </a:solidFill>
                <a:latin typeface="Arial"/>
              </a:rPr>
              <a:t>Selected 8 high-impact, easily verifiable underwriting attributes: checking_status, duration, credit_amount, savings_status, employment, age, housing, and purpose.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Preprocessing Pipeline: </a:t>
            </a:r>
            <a:r>
              <a:rPr sz="1600">
                <a:solidFill>
                  <a:srgbClr val="0F172A"/>
                </a:solidFill>
                <a:latin typeface="Arial"/>
              </a:rPr>
              <a:t>Integrated ColumnTransformer with StandardScaler for numerical features (duration, amount, age) and OneHotEncoder for categoricals.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3. Exploratory Data Analysis: Key Signals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Discovering default drivers in historical loans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Checking Account Liquidity (#1 Signal): </a:t>
            </a:r>
            <a:r>
              <a:rPr sz="1600">
                <a:solidFill>
                  <a:srgbClr val="0F172A"/>
                </a:solidFill>
                <a:latin typeface="Arial"/>
              </a:rPr>
              <a:t>Borrowers with negative checking balances (&lt; 0 DM) suffer default rates approaching ~50%. In contrast, balances &gt;= 200 DM default at under 15%.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Loan Tenure Multiplies Exposure: </a:t>
            </a:r>
            <a:r>
              <a:rPr sz="1600">
                <a:solidFill>
                  <a:srgbClr val="0F172A"/>
                </a:solidFill>
                <a:latin typeface="Arial"/>
              </a:rPr>
              <a:t>Defaulters hold a median loan duration of 30 months compared to 18 months for repayers. Longer horizons introduce higher vulnerability to life shocks.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Savings Reserves Protect Capital: </a:t>
            </a:r>
            <a:r>
              <a:rPr sz="1600">
                <a:solidFill>
                  <a:srgbClr val="0F172A"/>
                </a:solidFill>
                <a:latin typeface="Arial"/>
              </a:rPr>
              <a:t>Applicants maintaining &gt;= 1,000 DM in savings show resilient repayment even when borrowing larger loan amounts.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Underwriting Implication: </a:t>
            </a:r>
            <a:r>
              <a:rPr sz="1600">
                <a:solidFill>
                  <a:srgbClr val="0F172A"/>
                </a:solidFill>
                <a:latin typeface="Arial"/>
              </a:rPr>
              <a:t>Liquid cash reserves and shorter loan durations act as natural shock absorbers against personal default.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4. Machine Learning Methodology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Tuning Random Forest with Balanced Class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Algorithm Choice: </a:t>
            </a:r>
            <a:r>
              <a:rPr sz="1600">
                <a:solidFill>
                  <a:srgbClr val="0F172A"/>
                </a:solidFill>
                <a:latin typeface="Arial"/>
              </a:rPr>
              <a:t>Random Forest Classifier (100 estimators, max_depth=6). Non-linear, resistant to outliers, and prevents overfitting.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Handling Class Imbalance: </a:t>
            </a:r>
            <a:r>
              <a:rPr sz="1600">
                <a:solidFill>
                  <a:srgbClr val="0F172A"/>
                </a:solidFill>
                <a:latin typeface="Arial"/>
              </a:rPr>
              <a:t>Applied class_weight='balanced', proportionally penalizing the algorithm when it fails to catch the minority defaulters (30%).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Leak-Free Validation: </a:t>
            </a:r>
            <a:r>
              <a:rPr sz="1600">
                <a:solidFill>
                  <a:srgbClr val="0F172A"/>
                </a:solidFill>
                <a:latin typeface="Arial"/>
              </a:rPr>
              <a:t>Strict 80/20 stratified train/test split (800 training, 200 holdout test) guaranteeing identical class distributions.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Model Serialization: </a:t>
            </a:r>
            <a:r>
              <a:rPr sz="1600">
                <a:solidFill>
                  <a:srgbClr val="0F172A"/>
                </a:solidFill>
                <a:latin typeface="Arial"/>
              </a:rPr>
              <a:t>Entire pipeline (transformers + forest) packaged into model.pkl using joblib for instant production inference.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5. Model Evaluation &amp; Confusion Matrix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Performance on 200 unseen holdout applicants (140 Good, 60 Defaulters)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Recall on Defaulters (71.7%): </a:t>
            </a:r>
            <a:r>
              <a:rPr sz="1600">
                <a:solidFill>
                  <a:srgbClr val="0F172A"/>
                </a:solidFill>
                <a:latin typeface="Arial"/>
              </a:rPr>
              <a:t>Successfully intercepted 43 out of 60 actual defaulters (only 17 bad loans slipped through).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Overall Accuracy (70.0%): </a:t>
            </a:r>
            <a:r>
              <a:rPr sz="1600">
                <a:solidFill>
                  <a:srgbClr val="0F172A"/>
                </a:solidFill>
                <a:latin typeface="Arial"/>
              </a:rPr>
              <a:t>Correctly classified 140 out of 200 total loan applicants.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Precision (50.0%): </a:t>
            </a:r>
            <a:r>
              <a:rPr sz="1600">
                <a:solidFill>
                  <a:srgbClr val="0F172A"/>
                </a:solidFill>
                <a:latin typeface="Arial"/>
              </a:rPr>
              <a:t>When the model flags high risk, half are true defaults. The remaining are sent to secondary manual review rather than rejected.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Confusion Matrix Breakdown: </a:t>
            </a:r>
            <a:r>
              <a:rPr sz="1600">
                <a:solidFill>
                  <a:srgbClr val="0F172A"/>
                </a:solidFill>
                <a:latin typeface="Arial"/>
              </a:rPr>
              <a:t>97 True Negatives (Good approved) | 43 False Positives (Good flagged) | 17 False Negatives (Bad missed) | 43 True Positives (Bad caught).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6. Interactive Decision Tool (Streamlit)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Translating ML predictions into loan officer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Page 1: Business Context: </a:t>
            </a:r>
            <a:r>
              <a:rPr sz="1600">
                <a:solidFill>
                  <a:srgbClr val="0F172A"/>
                </a:solidFill>
                <a:latin typeface="Arial"/>
              </a:rPr>
              <a:t>Executive summary of the problem, asymmetric cost structure, and dataset description.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Page 2: Visual EDA: </a:t>
            </a:r>
            <a:r>
              <a:rPr sz="1600">
                <a:solidFill>
                  <a:srgbClr val="0F172A"/>
                </a:solidFill>
                <a:latin typeface="Arial"/>
              </a:rPr>
              <a:t>Interactive graphs illustrating checking account default curves, loan duration boxplots, and risk distributions.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Page 3: Live Underwriting Engine: </a:t>
            </a:r>
            <a:r>
              <a:rPr sz="1600">
                <a:solidFill>
                  <a:srgbClr val="0F172A"/>
                </a:solidFill>
                <a:latin typeface="Arial"/>
              </a:rPr>
              <a:t>Interactive input fields for loan officers returning default probability and triaged underwriting actions: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Triage Tiers: </a:t>
            </a:r>
            <a:r>
              <a:rPr sz="1600">
                <a:solidFill>
                  <a:srgbClr val="0F172A"/>
                </a:solidFill>
                <a:latin typeface="Arial"/>
              </a:rPr>
              <a:t>• P &lt; 40%: Approved (Fast-track straight-through processing)
• 40% - 60%: Manual Review (Request collateral / co-signer)
• P &gt; 60%: Decline (High default exposure; reject or restructure)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7. Executive Summary &amp; Viva Defense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Key takeaways for management and evaluators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Core Achievement: </a:t>
            </a:r>
            <a:r>
              <a:rPr sz="1600">
                <a:solidFill>
                  <a:srgbClr val="0F172A"/>
                </a:solidFill>
                <a:latin typeface="Arial"/>
              </a:rPr>
              <a:t>Transitioned from raw data to a fully deployed, human-in-the-loop decision-support tool accessible via web browser.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Decision Philosophy: </a:t>
            </a:r>
            <a:r>
              <a:rPr sz="1600">
                <a:solidFill>
                  <a:srgbClr val="0F172A"/>
                </a:solidFill>
                <a:latin typeface="Arial"/>
              </a:rPr>
              <a:t>'Don't just build a model. Build a decision tool.' The model does not replace underwriters; it automates low-risk approvals and flags high-risk applications.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Limitations &amp; Future Work: </a:t>
            </a:r>
            <a:r>
              <a:rPr sz="1600">
                <a:solidFill>
                  <a:srgbClr val="0F172A"/>
                </a:solidFill>
                <a:latin typeface="Arial"/>
              </a:rPr>
              <a:t>Trained on 1,000 historic records. In production, integrate macroeconomic indicators (inflation, benchmark interest rates) and set up quarterly drift monitoring.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3A8A"/>
                </a:solidFill>
                <a:latin typeface="Arial"/>
              </a:rPr>
              <a:t>Repository &amp; Live Link: </a:t>
            </a:r>
            <a:r>
              <a:rPr sz="1600">
                <a:solidFill>
                  <a:srgbClr val="0F172A"/>
                </a:solidFill>
                <a:latin typeface="Arial"/>
              </a:rPr>
              <a:t>GitHub: Akshit226/streamlit-app-MLBA-02- | Deployed on Streamlit Community Cloud.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